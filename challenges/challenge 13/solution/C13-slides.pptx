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677B89-EFC3-4748-A7F8-4242FFA5A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4DE53E-6B47-47FA-B1C5-5EB288405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094842-38F6-4924-84C9-127318FD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8D4FD0-5AC3-43C7-A793-DA9FFD2D2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4056BA-6E1F-479D-9E4B-C49E0E66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AC45FF-D895-4EB4-B2C6-DDB083179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4CCB0C-CA95-4260-82AF-D4ECE7E58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832049-B26E-4DE6-8D41-38400797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377AC9-B050-423A-87B8-1B910D39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7E6F8E-8383-454F-A37C-37800739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3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3597B-081F-47A8-973B-65E3986D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243A8D-C995-4BE4-A7C2-BE5C6F407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1B3B6-86E6-4CFE-ACF6-2001FC951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741A38-1831-45A3-9FD8-6FCB0D07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1241FD-1423-4393-BA5E-A16D7A6AD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77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E6486-CAB2-490A-82D5-02876028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CE32DE-8D53-4327-9744-74663679E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1E4718-4CFC-458D-B28B-FCC58022A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EDCD49-AA9B-40E1-88DE-C8BA33C4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D31C7B-C082-44B0-A584-1C6D0947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2A03A6-4FA4-416B-875F-0C296B37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3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0E289-70F5-4DE4-AE45-172D92235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9DA552-1FB5-4959-B0F7-E40DE37A4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A0D844-AB2F-4429-A3A7-6504FBBFD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97AE9C-46CB-4F22-9B62-7C2FA0B16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C8014E-1EE9-4EBE-9059-C77F6F533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1B7EAF5-A004-4322-8A41-2973AFE43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30430A9-E80E-41C4-A6C8-071A843A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F95DCB-53E6-4537-A52A-A91CA03B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7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EFB207-F661-4EFF-8FE2-07401B7C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EC190B-9F85-49F9-97B5-02691EA8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63A6D8-0862-4B44-983A-277560E8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0C4C52-2F8B-4C53-B6DA-9AB5F711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3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613264-527F-4DC2-BD00-507F68DF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1A7CE-8A56-4553-BCDF-461CC8AE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E2F240-899B-4871-A3A4-36D00600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0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D3CCB4-DE2F-4FE7-90DE-24086362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8F2E3-DB44-4888-AECA-9256D8F9E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605C72-DF8A-470B-A03D-34E21AE10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69188C-9CEF-4557-8BC0-00D7B79B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646951-5C39-4767-8EE3-30340192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CF98C3-F507-432C-8E4F-63697E9E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04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F8835A-712C-4C8C-AE3A-AB409AA54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963774-5931-4AE3-82FC-2766223E6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40EBA1-6F9E-49A6-8186-EF20D6CED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E3436C-B92B-41E7-972B-D4FAE399A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7FB2EA-D72A-4119-BF9A-8203E3A16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34D09A-1C15-4097-8820-87886DF6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81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57C41A-41F2-4EE4-9261-0761C8BC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1FB06F-949C-4822-885D-1F81DD884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8EF25A-C48F-42E5-9E57-5A0A8381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F0985E-9A15-45AA-B38F-EE873243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55202D-61B6-445B-9AFA-DAAC33AE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10B5BE8-FFA3-4ADE-9AE7-D9F7ED9E2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7D53094-C807-40B7-ACF8-0D6B28B53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87E1A7-ACF8-4A89-B78D-84E2197A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60BB6B-812A-4A51-8C1E-A66C3F54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5CF273-C59E-423F-810E-426D64EC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33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B064BBF-23E8-45D7-B4C2-6B986F022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34F69F-D999-41E9-8C9D-A4F28C676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5266E8-41FD-470F-A722-9F5B2B269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E3EF8-0914-4984-9185-64A7E2CBBC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044FCB-78A7-4EC6-AF33-7586EC95D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46785-C73E-4FF4-9C3C-5E5FDFF0E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B2C14-7721-4C93-8009-7AC27D8C926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3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7FE1445-4DC4-407A-9AE2-968ACD5C423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C00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1879B73-61E9-4E55-99C8-44BB43C8CC66}"/>
              </a:ext>
            </a:extLst>
          </p:cNvPr>
          <p:cNvSpPr txBox="1"/>
          <p:nvPr/>
        </p:nvSpPr>
        <p:spPr>
          <a:xfrm>
            <a:off x="609600" y="431800"/>
            <a:ext cx="109728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EC0016"/>
                </a:solidFill>
                <a:latin typeface="Segoe UI" panose="020B0502040204020203" pitchFamily="34" charset="0"/>
              </a:rPr>
              <a:t>ART SMARTTRANSFER · PI READINESS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EFC69A7-65FA-4B4F-BC8A-AC70F43E25D6}"/>
              </a:ext>
            </a:extLst>
          </p:cNvPr>
          <p:cNvSpPr txBox="1"/>
          <p:nvPr/>
        </p:nvSpPr>
        <p:spPr>
          <a:xfrm>
            <a:off x="609600" y="736600"/>
            <a:ext cx="10972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282828"/>
                </a:solidFill>
                <a:latin typeface="Segoe UI" panose="020B0502040204020203" pitchFamily="34" charset="0"/>
              </a:rPr>
              <a:t>Ready for PI Planning, with one change of plan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CB8A74B-FE35-4758-A5F2-3DAFD2B1DD3F}"/>
              </a:ext>
            </a:extLst>
          </p:cNvPr>
          <p:cNvSpPr/>
          <p:nvPr/>
        </p:nvSpPr>
        <p:spPr>
          <a:xfrm>
            <a:off x="609600" y="1905000"/>
            <a:ext cx="10972800" cy="660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C33CA99-8712-46A9-8460-7044F5CA0BA2}"/>
              </a:ext>
            </a:extLst>
          </p:cNvPr>
          <p:cNvSpPr/>
          <p:nvPr/>
        </p:nvSpPr>
        <p:spPr>
          <a:xfrm>
            <a:off x="838200" y="2108200"/>
            <a:ext cx="254000" cy="254000"/>
          </a:xfrm>
          <a:prstGeom prst="ellipse">
            <a:avLst/>
          </a:prstGeom>
          <a:solidFill>
            <a:srgbClr val="2E7D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2E5A0EF-5A18-4698-9025-D992166032AF}"/>
              </a:ext>
            </a:extLst>
          </p:cNvPr>
          <p:cNvSpPr txBox="1"/>
          <p:nvPr/>
        </p:nvSpPr>
        <p:spPr>
          <a:xfrm>
            <a:off x="1270000" y="20574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82828"/>
                </a:solidFill>
                <a:latin typeface="Segoe UI" panose="020B0502040204020203" pitchFamily="34" charset="0"/>
              </a:rPr>
              <a:t>Signal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67666C3-13A2-4C15-AA6B-B2A9623E5C4F}"/>
              </a:ext>
            </a:extLst>
          </p:cNvPr>
          <p:cNvSpPr txBox="1"/>
          <p:nvPr/>
        </p:nvSpPr>
        <p:spPr>
          <a:xfrm>
            <a:off x="3175000" y="2082800"/>
            <a:ext cx="660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Goal reached: delay feed v2 at 22 seconds in test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E5F3A62-28EA-4D1B-B2A9-9264BC127648}"/>
              </a:ext>
            </a:extLst>
          </p:cNvPr>
          <p:cNvSpPr txBox="1"/>
          <p:nvPr/>
        </p:nvSpPr>
        <p:spPr>
          <a:xfrm>
            <a:off x="9906000" y="2082800"/>
            <a:ext cx="152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6E6E6E"/>
                </a:solidFill>
                <a:latin typeface="Segoe UI" panose="020B0502040204020203" pitchFamily="34" charset="0"/>
              </a:rPr>
              <a:t>4 of 7 done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03474C7-7AD0-4575-B01A-5E4DC64D71CF}"/>
              </a:ext>
            </a:extLst>
          </p:cNvPr>
          <p:cNvSpPr/>
          <p:nvPr/>
        </p:nvSpPr>
        <p:spPr>
          <a:xfrm>
            <a:off x="609600" y="2692400"/>
            <a:ext cx="10972800" cy="660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D457901-3F29-47F4-A7D3-C0F288C73687}"/>
              </a:ext>
            </a:extLst>
          </p:cNvPr>
          <p:cNvSpPr/>
          <p:nvPr/>
        </p:nvSpPr>
        <p:spPr>
          <a:xfrm>
            <a:off x="838200" y="2895600"/>
            <a:ext cx="254000" cy="254000"/>
          </a:xfrm>
          <a:prstGeom prst="ellipse">
            <a:avLst/>
          </a:prstGeom>
          <a:solidFill>
            <a:srgbClr val="2E7D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BE3CFD0-74B5-48D1-8836-A1584E64D6BE}"/>
              </a:ext>
            </a:extLst>
          </p:cNvPr>
          <p:cNvSpPr txBox="1"/>
          <p:nvPr/>
        </p:nvSpPr>
        <p:spPr>
          <a:xfrm>
            <a:off x="1270000" y="28448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82828"/>
                </a:solidFill>
                <a:latin typeface="Segoe UI" panose="020B0502040204020203" pitchFamily="34" charset="0"/>
              </a:rPr>
              <a:t>Switch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7BCE712-AC4B-4F4D-89CA-40D6BD4BDBBC}"/>
              </a:ext>
            </a:extLst>
          </p:cNvPr>
          <p:cNvSpPr txBox="1"/>
          <p:nvPr/>
        </p:nvSpPr>
        <p:spPr>
          <a:xfrm>
            <a:off x="3175000" y="2870200"/>
            <a:ext cx="660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Goal reached: alternative routes work in test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B5321C8-9F49-4D96-835A-EE8C056A3500}"/>
              </a:ext>
            </a:extLst>
          </p:cNvPr>
          <p:cNvSpPr txBox="1"/>
          <p:nvPr/>
        </p:nvSpPr>
        <p:spPr>
          <a:xfrm>
            <a:off x="9906000" y="2870200"/>
            <a:ext cx="152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6E6E6E"/>
                </a:solidFill>
                <a:latin typeface="Segoe UI" panose="020B0502040204020203" pitchFamily="34" charset="0"/>
              </a:rPr>
              <a:t>3 of 6 done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FE7E96C-AF73-4B6B-BB09-691739288C90}"/>
              </a:ext>
            </a:extLst>
          </p:cNvPr>
          <p:cNvSpPr/>
          <p:nvPr/>
        </p:nvSpPr>
        <p:spPr>
          <a:xfrm>
            <a:off x="609600" y="3479800"/>
            <a:ext cx="10972800" cy="660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A63953C-E698-43FA-92DC-EB0867D399F7}"/>
              </a:ext>
            </a:extLst>
          </p:cNvPr>
          <p:cNvSpPr/>
          <p:nvPr/>
        </p:nvSpPr>
        <p:spPr>
          <a:xfrm>
            <a:off x="838200" y="3683000"/>
            <a:ext cx="254000" cy="254000"/>
          </a:xfrm>
          <a:prstGeom prst="ellipse">
            <a:avLst/>
          </a:prstGeom>
          <a:solidFill>
            <a:srgbClr val="2E7D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BA60B5A-4CAF-4792-9FBF-41EFD3FF724D}"/>
              </a:ext>
            </a:extLst>
          </p:cNvPr>
          <p:cNvSpPr txBox="1"/>
          <p:nvPr/>
        </p:nvSpPr>
        <p:spPr>
          <a:xfrm>
            <a:off x="1270000" y="36322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82828"/>
                </a:solidFill>
                <a:latin typeface="Segoe UI" panose="020B0502040204020203" pitchFamily="34" charset="0"/>
              </a:rPr>
              <a:t>Concourse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620ADDD-31F5-4FD8-8975-3D8581B8F223}"/>
              </a:ext>
            </a:extLst>
          </p:cNvPr>
          <p:cNvSpPr txBox="1"/>
          <p:nvPr/>
        </p:nvSpPr>
        <p:spPr>
          <a:xfrm>
            <a:off x="3175000" y="3657600"/>
            <a:ext cx="660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Goal reached: push notifications for 200 beta users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DA52085-C713-46C0-9935-039276D52FB4}"/>
              </a:ext>
            </a:extLst>
          </p:cNvPr>
          <p:cNvSpPr txBox="1"/>
          <p:nvPr/>
        </p:nvSpPr>
        <p:spPr>
          <a:xfrm>
            <a:off x="9906000" y="3657600"/>
            <a:ext cx="152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6E6E6E"/>
                </a:solidFill>
                <a:latin typeface="Segoe UI" panose="020B0502040204020203" pitchFamily="34" charset="0"/>
              </a:rPr>
              <a:t>3 of 5 done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223FE31B-9E9C-4179-84CD-14B3B339C96F}"/>
              </a:ext>
            </a:extLst>
          </p:cNvPr>
          <p:cNvSpPr/>
          <p:nvPr/>
        </p:nvSpPr>
        <p:spPr>
          <a:xfrm>
            <a:off x="609600" y="4267200"/>
            <a:ext cx="10972800" cy="660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F4746FB-42AA-4BD7-9FA2-3AB0CFE98616}"/>
              </a:ext>
            </a:extLst>
          </p:cNvPr>
          <p:cNvSpPr/>
          <p:nvPr/>
        </p:nvSpPr>
        <p:spPr>
          <a:xfrm>
            <a:off x="838200" y="4470400"/>
            <a:ext cx="254000" cy="254000"/>
          </a:xfrm>
          <a:prstGeom prst="ellipse">
            <a:avLst/>
          </a:prstGeom>
          <a:solidFill>
            <a:srgbClr val="F9A8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E7020B2-9F82-45D6-A037-680FAA16699C}"/>
              </a:ext>
            </a:extLst>
          </p:cNvPr>
          <p:cNvSpPr txBox="1"/>
          <p:nvPr/>
        </p:nvSpPr>
        <p:spPr>
          <a:xfrm>
            <a:off x="1270000" y="44196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82828"/>
                </a:solidFill>
                <a:latin typeface="Segoe UI" panose="020B0502040204020203" pitchFamily="34" charset="0"/>
              </a:rPr>
              <a:t>Depot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A72F94E-AF06-4D51-97BB-F76B69B6372B}"/>
              </a:ext>
            </a:extLst>
          </p:cNvPr>
          <p:cNvSpPr txBox="1"/>
          <p:nvPr/>
        </p:nvSpPr>
        <p:spPr>
          <a:xfrm>
            <a:off x="3175000" y="4445000"/>
            <a:ext cx="660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Goal not reached: logging platform for one team only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56198F5-556E-4FCA-AF48-A811BA6B2396}"/>
              </a:ext>
            </a:extLst>
          </p:cNvPr>
          <p:cNvSpPr txBox="1"/>
          <p:nvPr/>
        </p:nvSpPr>
        <p:spPr>
          <a:xfrm>
            <a:off x="9906000" y="4445000"/>
            <a:ext cx="152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6E6E6E"/>
                </a:solidFill>
                <a:latin typeface="Segoe UI" panose="020B0502040204020203" pitchFamily="34" charset="0"/>
              </a:rPr>
              <a:t>2 of 5 done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CCFD723C-3AEF-4E82-8CDE-11864D6AA849}"/>
              </a:ext>
            </a:extLst>
          </p:cNvPr>
          <p:cNvSpPr/>
          <p:nvPr/>
        </p:nvSpPr>
        <p:spPr>
          <a:xfrm>
            <a:off x="609600" y="5207000"/>
            <a:ext cx="10972800" cy="812800"/>
          </a:xfrm>
          <a:prstGeom prst="roundRect">
            <a:avLst>
              <a:gd name="adj" fmla="val 6000"/>
            </a:avLst>
          </a:prstGeom>
          <a:solidFill>
            <a:srgbClr val="EC00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E563134-8A51-4860-99B2-9FDEE2B22B67}"/>
              </a:ext>
            </a:extLst>
          </p:cNvPr>
          <p:cNvSpPr txBox="1"/>
          <p:nvPr/>
        </p:nvSpPr>
        <p:spPr>
          <a:xfrm>
            <a:off x="838200" y="5346700"/>
            <a:ext cx="10541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Change of plan: Team Signal has two people fewer in the next PI. The feed v2 rollout to all major stations moves to the following PI.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9E7857B-F49B-4758-9353-5D5F68F77084}"/>
              </a:ext>
            </a:extLst>
          </p:cNvPr>
          <p:cNvSpPr txBox="1"/>
          <p:nvPr/>
        </p:nvSpPr>
        <p:spPr>
          <a:xfrm>
            <a:off x="609600" y="6350000"/>
            <a:ext cx="109728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Segoe UI" panose="020B0502040204020203" pitchFamily="34" charset="0"/>
              </a:rPr>
              <a:t>Sprint 14 results per team · items done of items committed</a:t>
            </a:r>
          </a:p>
        </p:txBody>
      </p:sp>
    </p:spTree>
    <p:extLst>
      <p:ext uri="{BB962C8B-B14F-4D97-AF65-F5344CB8AC3E}">
        <p14:creationId xmlns:p14="http://schemas.microsoft.com/office/powerpoint/2010/main" val="3969492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600AD42-00F3-46F4-91F5-5906B51AB35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C00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EEE3C2-00CB-412D-9E80-CA943BEDDCB0}"/>
              </a:ext>
            </a:extLst>
          </p:cNvPr>
          <p:cNvSpPr txBox="1"/>
          <p:nvPr/>
        </p:nvSpPr>
        <p:spPr>
          <a:xfrm>
            <a:off x="609600" y="431800"/>
            <a:ext cx="109728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EC0016"/>
                </a:solidFill>
                <a:latin typeface="Segoe UI" panose="020B0502040204020203" pitchFamily="34" charset="0"/>
              </a:rPr>
              <a:t>PRIORITIES AND RISKS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9B0E326-3A97-4675-ADE0-80BC3944BB33}"/>
              </a:ext>
            </a:extLst>
          </p:cNvPr>
          <p:cNvSpPr txBox="1"/>
          <p:nvPr/>
        </p:nvSpPr>
        <p:spPr>
          <a:xfrm>
            <a:off x="609600" y="736600"/>
            <a:ext cx="10972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282828"/>
                </a:solidFill>
                <a:latin typeface="Segoe UI" panose="020B0502040204020203" pitchFamily="34" charset="0"/>
              </a:rPr>
              <a:t>Clear priorities, two risks that need attention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72E899E-374B-4B8C-A1BE-7C0BFE3D0836}"/>
              </a:ext>
            </a:extLst>
          </p:cNvPr>
          <p:cNvSpPr/>
          <p:nvPr/>
        </p:nvSpPr>
        <p:spPr>
          <a:xfrm>
            <a:off x="609600" y="1905000"/>
            <a:ext cx="5334000" cy="3429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C84F35D-73A6-43FF-9518-C807F292359B}"/>
              </a:ext>
            </a:extLst>
          </p:cNvPr>
          <p:cNvSpPr txBox="1"/>
          <p:nvPr/>
        </p:nvSpPr>
        <p:spPr>
          <a:xfrm>
            <a:off x="863600" y="2082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EC0016"/>
                </a:solidFill>
                <a:latin typeface="Segoe UI" panose="020B0502040204020203" pitchFamily="34" charset="0"/>
              </a:rPr>
              <a:t>Priorities (WSJF)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9823C2E-04C0-4568-8D23-B629D4E5CB81}"/>
              </a:ext>
            </a:extLst>
          </p:cNvPr>
          <p:cNvSpPr txBox="1"/>
          <p:nvPr/>
        </p:nvSpPr>
        <p:spPr>
          <a:xfrm>
            <a:off x="863600" y="2540000"/>
            <a:ext cx="482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1. Outage alerting for real-time data</a:t>
            </a:r>
          </a:p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2. Peak-hour readiness for the delay feed</a:t>
            </a:r>
          </a:p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Both lead in every calculation method.</a:t>
            </a:r>
          </a:p>
          <a:p>
            <a:endParaRPr lang="en-US" sz="1500">
              <a:solidFill>
                <a:srgbClr val="282828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Rank 3 depends on the method, and on whether the legal deadline for screen-reader support is confirmed.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A4965F4-8CDF-4C34-B90A-1B2D3EEC43DB}"/>
              </a:ext>
            </a:extLst>
          </p:cNvPr>
          <p:cNvSpPr/>
          <p:nvPr/>
        </p:nvSpPr>
        <p:spPr>
          <a:xfrm>
            <a:off x="6248400" y="1905000"/>
            <a:ext cx="5334000" cy="3429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32C817C-60B5-4382-9CC6-F67B72F34750}"/>
              </a:ext>
            </a:extLst>
          </p:cNvPr>
          <p:cNvSpPr txBox="1"/>
          <p:nvPr/>
        </p:nvSpPr>
        <p:spPr>
          <a:xfrm>
            <a:off x="6502400" y="2082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EC0016"/>
                </a:solidFill>
                <a:latin typeface="Segoe UI" panose="020B0502040204020203" pitchFamily="34" charset="0"/>
              </a:rPr>
              <a:t>Risks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D5A0855-CA95-43EA-8431-B4D19FBCC1F9}"/>
              </a:ext>
            </a:extLst>
          </p:cNvPr>
          <p:cNvSpPr txBox="1"/>
          <p:nvPr/>
        </p:nvSpPr>
        <p:spPr>
          <a:xfrm>
            <a:off x="6502400" y="2540000"/>
            <a:ext cx="4826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Alerting deadlock between Signal and Depot: a proposal is on the table, Kim confirms who owns alert rules.</a:t>
            </a:r>
          </a:p>
          <a:p>
            <a:endParaRPr lang="en-US" sz="1500">
              <a:solidFill>
                <a:srgbClr val="282828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Peak-hour load test: planned before its test environment exists, and without test data.</a:t>
            </a:r>
          </a:p>
          <a:p>
            <a:endParaRPr lang="en-US" sz="1500">
              <a:solidFill>
                <a:srgbClr val="282828"/>
              </a:solidFill>
              <a:latin typeface="Segoe UI" panose="020B0502040204020203" pitchFamily="34" charset="0"/>
            </a:endParaRPr>
          </a:p>
          <a:p>
            <a:r>
              <a:rPr lang="en-US" sz="1500">
                <a:solidFill>
                  <a:srgbClr val="282828"/>
                </a:solidFill>
                <a:latin typeface="Segoe UI" panose="020B0502040204020203" pitchFamily="34" charset="0"/>
              </a:rPr>
              <a:t>11 dependencies: 3 late, 5 with nothing planned yet.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587DE10-CC20-4307-AE69-5B1A57AA1235}"/>
              </a:ext>
            </a:extLst>
          </p:cNvPr>
          <p:cNvSpPr txBox="1"/>
          <p:nvPr/>
        </p:nvSpPr>
        <p:spPr>
          <a:xfrm>
            <a:off x="609600" y="6350000"/>
            <a:ext cx="109728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Segoe UI" panose="020B0502040204020203" pitchFamily="34" charset="0"/>
              </a:rPr>
              <a:t>Source: WSJF workbook and program board of the train · calculated in Excel</a:t>
            </a:r>
          </a:p>
        </p:txBody>
      </p:sp>
    </p:spTree>
    <p:extLst>
      <p:ext uri="{BB962C8B-B14F-4D97-AF65-F5344CB8AC3E}">
        <p14:creationId xmlns:p14="http://schemas.microsoft.com/office/powerpoint/2010/main" val="29818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BFD0ED5-1717-4DD9-9EBF-4A5984B0EE0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EC00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7DAC497-34D4-4B27-9FA4-D8D1351CAC21}"/>
              </a:ext>
            </a:extLst>
          </p:cNvPr>
          <p:cNvSpPr txBox="1"/>
          <p:nvPr/>
        </p:nvSpPr>
        <p:spPr>
          <a:xfrm>
            <a:off x="609600" y="431800"/>
            <a:ext cx="109728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EC0016"/>
                </a:solidFill>
                <a:latin typeface="Segoe UI" panose="020B0502040204020203" pitchFamily="34" charset="0"/>
              </a:rPr>
              <a:t>DECISIONS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FA6F2BE-36CC-4B43-8F96-39197200AB9D}"/>
              </a:ext>
            </a:extLst>
          </p:cNvPr>
          <p:cNvSpPr txBox="1"/>
          <p:nvPr/>
        </p:nvSpPr>
        <p:spPr>
          <a:xfrm>
            <a:off x="609600" y="736600"/>
            <a:ext cx="10972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282828"/>
                </a:solidFill>
                <a:latin typeface="Segoe UI" panose="020B0502040204020203" pitchFamily="34" charset="0"/>
              </a:rPr>
              <a:t>Three decisions we need from you today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E8058DD9-3D38-43CF-A78E-FCADCFB8E40C}"/>
              </a:ext>
            </a:extLst>
          </p:cNvPr>
          <p:cNvSpPr/>
          <p:nvPr/>
        </p:nvSpPr>
        <p:spPr>
          <a:xfrm>
            <a:off x="609600" y="1905000"/>
            <a:ext cx="10972800" cy="101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DF1DD1E-E181-46DF-B7D0-58E07A048BEC}"/>
              </a:ext>
            </a:extLst>
          </p:cNvPr>
          <p:cNvSpPr/>
          <p:nvPr/>
        </p:nvSpPr>
        <p:spPr>
          <a:xfrm>
            <a:off x="838200" y="2133600"/>
            <a:ext cx="558800" cy="558800"/>
          </a:xfrm>
          <a:prstGeom prst="ellipse">
            <a:avLst/>
          </a:prstGeom>
          <a:solidFill>
            <a:srgbClr val="EC00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88F9FD4-4B92-435F-B619-251FC52691B0}"/>
              </a:ext>
            </a:extLst>
          </p:cNvPr>
          <p:cNvSpPr txBox="1"/>
          <p:nvPr/>
        </p:nvSpPr>
        <p:spPr>
          <a:xfrm>
            <a:off x="1651000" y="2057400"/>
            <a:ext cx="9652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82828"/>
                </a:solidFill>
                <a:latin typeface="Segoe UI" panose="020B0502040204020203" pitchFamily="34" charset="0"/>
              </a:rPr>
              <a:t>Escalate the late test data to the train data provider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22EEAD4-D353-4CD3-B8E4-73F307073503}"/>
              </a:ext>
            </a:extLst>
          </p:cNvPr>
          <p:cNvSpPr txBox="1"/>
          <p:nvPr/>
        </p:nvSpPr>
        <p:spPr>
          <a:xfrm>
            <a:off x="1651000" y="2438400"/>
            <a:ext cx="965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UI" panose="020B0502040204020203" pitchFamily="34" charset="0"/>
              </a:rPr>
              <a:t>Without data, the peak-hour test cannot run.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A86C3917-BD7E-4F47-B9C2-A26B9C85665E}"/>
              </a:ext>
            </a:extLst>
          </p:cNvPr>
          <p:cNvSpPr/>
          <p:nvPr/>
        </p:nvSpPr>
        <p:spPr>
          <a:xfrm>
            <a:off x="609600" y="3073400"/>
            <a:ext cx="10972800" cy="101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B7B1951-3FDE-4E29-8843-E084941E4AC9}"/>
              </a:ext>
            </a:extLst>
          </p:cNvPr>
          <p:cNvSpPr/>
          <p:nvPr/>
        </p:nvSpPr>
        <p:spPr>
          <a:xfrm>
            <a:off x="838200" y="3302000"/>
            <a:ext cx="558800" cy="558800"/>
          </a:xfrm>
          <a:prstGeom prst="ellipse">
            <a:avLst/>
          </a:prstGeom>
          <a:solidFill>
            <a:srgbClr val="EC00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7AE24BB-8350-478F-A79F-3F6D46501423}"/>
              </a:ext>
            </a:extLst>
          </p:cNvPr>
          <p:cNvSpPr txBox="1"/>
          <p:nvPr/>
        </p:nvSpPr>
        <p:spPr>
          <a:xfrm>
            <a:off x="1651000" y="3225800"/>
            <a:ext cx="9652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82828"/>
                </a:solidFill>
                <a:latin typeface="Segoe UI" panose="020B0502040204020203" pitchFamily="34" charset="0"/>
              </a:rPr>
              <a:t>Rail Ops approves text templates once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BB1F2DE-E7F3-4AC4-B477-BB2399C41791}"/>
              </a:ext>
            </a:extLst>
          </p:cNvPr>
          <p:cNvSpPr txBox="1"/>
          <p:nvPr/>
        </p:nvSpPr>
        <p:spPr>
          <a:xfrm>
            <a:off x="1651000" y="3606800"/>
            <a:ext cx="965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UI" panose="020B0502040204020203" pitchFamily="34" charset="0"/>
              </a:rPr>
              <a:t>Team Concourse writes new texts within them, checked by UX.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1AA9A9E-687F-4474-8658-685DBA4E9E28}"/>
              </a:ext>
            </a:extLst>
          </p:cNvPr>
          <p:cNvSpPr/>
          <p:nvPr/>
        </p:nvSpPr>
        <p:spPr>
          <a:xfrm>
            <a:off x="609600" y="4241800"/>
            <a:ext cx="10972800" cy="101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69DD81B-90B4-4077-96EA-61529D58D3F4}"/>
              </a:ext>
            </a:extLst>
          </p:cNvPr>
          <p:cNvSpPr/>
          <p:nvPr/>
        </p:nvSpPr>
        <p:spPr>
          <a:xfrm>
            <a:off x="838200" y="4470400"/>
            <a:ext cx="558800" cy="558800"/>
          </a:xfrm>
          <a:prstGeom prst="ellipse">
            <a:avLst/>
          </a:prstGeom>
          <a:solidFill>
            <a:srgbClr val="EC00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24EE171-33D2-4BCF-82DA-0408B6DB65A5}"/>
              </a:ext>
            </a:extLst>
          </p:cNvPr>
          <p:cNvSpPr txBox="1"/>
          <p:nvPr/>
        </p:nvSpPr>
        <p:spPr>
          <a:xfrm>
            <a:off x="1651000" y="4394200"/>
            <a:ext cx="9652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82828"/>
                </a:solidFill>
                <a:latin typeface="Segoe UI" panose="020B0502040204020203" pitchFamily="34" charset="0"/>
              </a:rPr>
              <a:t>Back Depot's request form for ad-hoc requests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9E066F9-2235-47BB-93F8-C53B7EB21AFB}"/>
              </a:ext>
            </a:extLst>
          </p:cNvPr>
          <p:cNvSpPr txBox="1"/>
          <p:nvPr/>
        </p:nvSpPr>
        <p:spPr>
          <a:xfrm>
            <a:off x="1651000" y="4775200"/>
            <a:ext cx="965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UI" panose="020B0502040204020203" pitchFamily="34" charset="0"/>
              </a:rPr>
              <a:t>Incidents still go straight to on-call. Today, ad-hoc requests take around 40 % of Depot's capacity.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50B63D1-198E-4828-A65A-AA5E5DFD2900}"/>
              </a:ext>
            </a:extLst>
          </p:cNvPr>
          <p:cNvSpPr txBox="1"/>
          <p:nvPr/>
        </p:nvSpPr>
        <p:spPr>
          <a:xfrm>
            <a:off x="609600" y="5486400"/>
            <a:ext cx="109728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82828"/>
                </a:solidFill>
                <a:latin typeface="Segoe UI" panose="020B0502040204020203" pitchFamily="34" charset="0"/>
              </a:rPr>
              <a:t>For your information: feed v2 in Team Switch's test environment is planned for Sprint 3. No decision needed.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2209497-301F-4EFC-81AF-E2020B9F386E}"/>
              </a:ext>
            </a:extLst>
          </p:cNvPr>
          <p:cNvSpPr txBox="1"/>
          <p:nvPr/>
        </p:nvSpPr>
        <p:spPr>
          <a:xfrm>
            <a:off x="609600" y="6350000"/>
            <a:ext cx="109728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Segoe UI" panose="020B0502040204020203" pitchFamily="34" charset="0"/>
              </a:rPr>
              <a:t>AI-assisted draft · reviewed by: Agility Master, Team Signal</a:t>
            </a:r>
          </a:p>
        </p:txBody>
      </p:sp>
    </p:spTree>
    <p:extLst>
      <p:ext uri="{BB962C8B-B14F-4D97-AF65-F5344CB8AC3E}">
        <p14:creationId xmlns:p14="http://schemas.microsoft.com/office/powerpoint/2010/main" val="283855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Benutzerdefiniert</PresentationFormat>
  <Paragraphs>44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Raphael Herding</dc:creator>
  <cp:lastModifiedBy>Raphael Herding</cp:lastModifiedBy>
  <cp:revision>1</cp:revision>
  <dcterms:created xsi:type="dcterms:W3CDTF">2026-10-08T16:55:01Z</dcterms:created>
  <dcterms:modified xsi:type="dcterms:W3CDTF">2026-10-08T16:55:01Z</dcterms:modified>
</cp:coreProperties>
</file>